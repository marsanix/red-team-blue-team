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876" y="4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2184B-89E4-49F7-B2A8-81DC67EE25AE}" type="datetimeFigureOut">
              <a:rPr lang="en-ID" smtClean="0"/>
              <a:t>15/08/2026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14806-AC08-4FA5-999B-1834F6D5B0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9045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dirty="0"/>
              <a:t>Project yang kami buat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layanan</a:t>
            </a:r>
            <a:r>
              <a:rPr lang="en-ID" dirty="0"/>
              <a:t> API Web </a:t>
            </a:r>
            <a:r>
              <a:rPr lang="en-ID" dirty="0" err="1"/>
              <a:t>menggunakan</a:t>
            </a:r>
            <a:r>
              <a:rPr lang="en-ID" dirty="0"/>
              <a:t> Python Flask yang </a:t>
            </a:r>
            <a:r>
              <a:rPr lang="en-ID" dirty="0" err="1"/>
              <a:t>dijalankan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microservices </a:t>
            </a:r>
            <a:r>
              <a:rPr lang="en-ID" dirty="0" err="1"/>
              <a:t>menggunakan</a:t>
            </a:r>
            <a:r>
              <a:rPr lang="en-ID" dirty="0"/>
              <a:t> Docker.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autentikasi</a:t>
            </a:r>
            <a:r>
              <a:rPr lang="en-ID" dirty="0"/>
              <a:t> JSON Web Token </a:t>
            </a:r>
            <a:r>
              <a:rPr lang="en-ID" dirty="0" err="1"/>
              <a:t>atau</a:t>
            </a:r>
            <a:r>
              <a:rPr lang="en-ID" dirty="0"/>
              <a:t> JWT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14806-AC08-4FA5-999B-1834F6D5B0AC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21299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Pada project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simulasi</a:t>
            </a:r>
            <a:r>
              <a:rPr lang="en-ID" dirty="0"/>
              <a:t> Red Team dan Blue Team. Red Team </a:t>
            </a:r>
            <a:r>
              <a:rPr lang="en-ID" dirty="0" err="1"/>
              <a:t>berperan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pihak</a:t>
            </a:r>
            <a:r>
              <a:rPr lang="en-ID" dirty="0"/>
              <a:t> yang </a:t>
            </a:r>
            <a:r>
              <a:rPr lang="en-ID" dirty="0" err="1"/>
              <a:t>mencoba</a:t>
            </a:r>
            <a:r>
              <a:rPr lang="en-ID" dirty="0"/>
              <a:t> </a:t>
            </a:r>
            <a:r>
              <a:rPr lang="en-ID" dirty="0" err="1"/>
              <a:t>mencari</a:t>
            </a:r>
            <a:r>
              <a:rPr lang="en-ID" dirty="0"/>
              <a:t> dan </a:t>
            </a:r>
            <a:r>
              <a:rPr lang="en-ID" dirty="0" err="1"/>
              <a:t>mengeksploitasi</a:t>
            </a:r>
            <a:r>
              <a:rPr lang="en-ID" dirty="0"/>
              <a:t> </a:t>
            </a:r>
            <a:r>
              <a:rPr lang="en-ID" dirty="0" err="1"/>
              <a:t>celah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, </a:t>
            </a:r>
            <a:r>
              <a:rPr lang="en-ID" dirty="0" err="1"/>
              <a:t>sedangkan</a:t>
            </a:r>
            <a:r>
              <a:rPr lang="en-ID" dirty="0"/>
              <a:t> Blue Team </a:t>
            </a:r>
            <a:r>
              <a:rPr lang="en-ID" dirty="0" err="1"/>
              <a:t>bertugas</a:t>
            </a:r>
            <a:r>
              <a:rPr lang="en-ID" dirty="0"/>
              <a:t> </a:t>
            </a:r>
            <a:r>
              <a:rPr lang="en-ID" dirty="0" err="1"/>
              <a:t>mengamati</a:t>
            </a:r>
            <a:r>
              <a:rPr lang="en-ID" dirty="0"/>
              <a:t> traffic, </a:t>
            </a:r>
            <a:r>
              <a:rPr lang="en-ID" dirty="0" err="1"/>
              <a:t>menemukan</a:t>
            </a:r>
            <a:r>
              <a:rPr lang="en-ID" dirty="0"/>
              <a:t> </a:t>
            </a:r>
            <a:r>
              <a:rPr lang="en-ID" dirty="0" err="1"/>
              <a:t>indikasi</a:t>
            </a:r>
            <a:r>
              <a:rPr lang="en-ID" dirty="0"/>
              <a:t> </a:t>
            </a:r>
            <a:r>
              <a:rPr lang="en-ID" dirty="0" err="1"/>
              <a:t>serangan</a:t>
            </a:r>
            <a:r>
              <a:rPr lang="en-ID" dirty="0"/>
              <a:t>, </a:t>
            </a:r>
            <a:r>
              <a:rPr lang="en-ID" dirty="0" err="1"/>
              <a:t>kemudian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perbaikan</a:t>
            </a:r>
            <a:r>
              <a:rPr lang="en-ID" dirty="0"/>
              <a:t>.</a:t>
            </a:r>
          </a:p>
          <a:p>
            <a:endParaRPr lang="en-ID" dirty="0"/>
          </a:p>
          <a:p>
            <a:r>
              <a:rPr lang="en-ID" dirty="0"/>
              <a:t>Celah yang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fokus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kerentanan</a:t>
            </a:r>
            <a:r>
              <a:rPr lang="en-ID" dirty="0"/>
              <a:t> pada </a:t>
            </a:r>
            <a:r>
              <a:rPr lang="en-ID" dirty="0" err="1"/>
              <a:t>pemrosesan</a:t>
            </a:r>
            <a:r>
              <a:rPr lang="en-ID" dirty="0"/>
              <a:t> JWT. Aplikasi </a:t>
            </a:r>
            <a:r>
              <a:rPr lang="en-ID" dirty="0" err="1"/>
              <a:t>dibuat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yang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algoritma</a:t>
            </a:r>
            <a:r>
              <a:rPr lang="en-ID" dirty="0"/>
              <a:t> pada header JWT </a:t>
            </a:r>
            <a:r>
              <a:rPr lang="en-ID" dirty="0" err="1"/>
              <a:t>dipercaya</a:t>
            </a:r>
            <a:r>
              <a:rPr lang="en-ID" dirty="0"/>
              <a:t> oleh server. </a:t>
            </a:r>
            <a:r>
              <a:rPr lang="en-ID" dirty="0" err="1"/>
              <a:t>Akibatnya</a:t>
            </a:r>
            <a:r>
              <a:rPr lang="en-ID" dirty="0"/>
              <a:t>, token yang </a:t>
            </a:r>
            <a:r>
              <a:rPr lang="en-ID" dirty="0" err="1"/>
              <a:t>seharusnya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user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dimanipulasi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memperoleh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admin.</a:t>
            </a:r>
          </a:p>
          <a:p>
            <a:endParaRPr lang="en-ID" dirty="0"/>
          </a:p>
          <a:p>
            <a:r>
              <a:rPr lang="en-ID" dirty="0"/>
              <a:t>Jadi, </a:t>
            </a:r>
            <a:r>
              <a:rPr lang="en-ID" dirty="0" err="1"/>
              <a:t>tujuan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project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API, </a:t>
            </a:r>
            <a:r>
              <a:rPr lang="en-ID" dirty="0" err="1"/>
              <a:t>tetapi</a:t>
            </a:r>
            <a:r>
              <a:rPr lang="en-ID" dirty="0"/>
              <a:t> juga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dibangun</a:t>
            </a:r>
            <a:r>
              <a:rPr lang="en-ID" dirty="0"/>
              <a:t>, </a:t>
            </a:r>
            <a:r>
              <a:rPr lang="en-ID" dirty="0" err="1"/>
              <a:t>diuji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serangan</a:t>
            </a:r>
            <a:r>
              <a:rPr lang="en-ID" dirty="0"/>
              <a:t>, </a:t>
            </a:r>
            <a:r>
              <a:rPr lang="en-ID" dirty="0" err="1"/>
              <a:t>dianalisis</a:t>
            </a:r>
            <a:r>
              <a:rPr lang="en-ID" dirty="0"/>
              <a:t>, dan </a:t>
            </a:r>
            <a:r>
              <a:rPr lang="en-ID" dirty="0" err="1"/>
              <a:t>kemudian</a:t>
            </a:r>
            <a:r>
              <a:rPr lang="en-ID" dirty="0"/>
              <a:t> </a:t>
            </a:r>
            <a:r>
              <a:rPr lang="en-ID" dirty="0" err="1"/>
              <a:t>diamankan</a:t>
            </a:r>
            <a:r>
              <a:rPr lang="en-ID" dirty="0"/>
              <a:t> </a:t>
            </a:r>
            <a:r>
              <a:rPr lang="en-ID" dirty="0" err="1"/>
              <a:t>kembali</a:t>
            </a:r>
            <a:r>
              <a:rPr lang="en-ID" dirty="0"/>
              <a:t>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14806-AC08-4FA5-999B-1834F6D5B0AC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16181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25.png"/><Relationship Id="rId4" Type="http://schemas.openxmlformats.org/officeDocument/2006/relationships/image" Target="../media/image33.png"/><Relationship Id="rId9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4.png"/><Relationship Id="rId7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33.png"/><Relationship Id="rId7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65.png"/><Relationship Id="rId7" Type="http://schemas.openxmlformats.org/officeDocument/2006/relationships/image" Target="../media/image60.png"/><Relationship Id="rId12" Type="http://schemas.openxmlformats.org/officeDocument/2006/relationships/image" Target="../media/image7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11" Type="http://schemas.openxmlformats.org/officeDocument/2006/relationships/image" Target="../media/image72.png"/><Relationship Id="rId5" Type="http://schemas.openxmlformats.org/officeDocument/2006/relationships/image" Target="../media/image67.png"/><Relationship Id="rId10" Type="http://schemas.openxmlformats.org/officeDocument/2006/relationships/image" Target="../media/image71.png"/><Relationship Id="rId4" Type="http://schemas.openxmlformats.org/officeDocument/2006/relationships/image" Target="../media/image66.png"/><Relationship Id="rId9" Type="http://schemas.openxmlformats.org/officeDocument/2006/relationships/image" Target="../media/image7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379115"/>
            <a:ext cx="1743075" cy="581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4379115"/>
            <a:ext cx="1743075" cy="581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5775" y="4379115"/>
            <a:ext cx="1743075" cy="581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150" y="4379115"/>
            <a:ext cx="1743075" cy="581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0525" y="4379115"/>
            <a:ext cx="1743075" cy="581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7900" y="4379115"/>
            <a:ext cx="1743075" cy="581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5367" y="2198340"/>
            <a:ext cx="10121265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900" b="1" i="0" u="none" dirty="0" err="1">
                <a:solidFill>
                  <a:srgbClr val="FFFFFF"/>
                </a:solidFill>
                <a:latin typeface="Poppins"/>
              </a:rPr>
              <a:t>Layanan</a:t>
            </a:r>
            <a:r>
              <a:rPr sz="3900" b="1" i="0" u="none" dirty="0">
                <a:solidFill>
                  <a:srgbClr val="FFFFFF"/>
                </a:solidFill>
                <a:latin typeface="Poppins"/>
              </a:rPr>
              <a:t> API Web </a:t>
            </a:r>
            <a:r>
              <a:rPr sz="3900" b="1" i="0" u="none" dirty="0" err="1">
                <a:solidFill>
                  <a:srgbClr val="FFFFFF"/>
                </a:solidFill>
                <a:latin typeface="Poppins"/>
              </a:rPr>
              <a:t>dengan</a:t>
            </a:r>
            <a:r>
              <a:rPr sz="3900" b="1" i="0" u="none" dirty="0">
                <a:solidFill>
                  <a:srgbClr val="FFFFFF"/>
                </a:solidFill>
                <a:latin typeface="Poppins"/>
              </a:rPr>
              <a:t> Bypass JWT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47875" y="2983110"/>
            <a:ext cx="8096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Simulasi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Red Team &amp; Blue Team: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Implementasi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Microservices,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Eksploitasi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Kerentanan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Token,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Analisis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Traffic Paket, dan Remediation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02940"/>
            <a:ext cx="15335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id-ID" sz="900" b="1" i="0" u="none" dirty="0">
                <a:solidFill>
                  <a:srgbClr val="38BDF8"/>
                </a:solidFill>
                <a:latin typeface="Inter"/>
              </a:rPr>
              <a:t>Marsani</a:t>
            </a:r>
            <a:endParaRPr sz="900" b="1" i="0" u="none" dirty="0">
              <a:solidFill>
                <a:srgbClr val="38BDF8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43175" y="4502940"/>
            <a:ext cx="15335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id-ID" sz="900" b="1" i="0" u="none" dirty="0">
                <a:solidFill>
                  <a:srgbClr val="38BDF8"/>
                </a:solidFill>
                <a:latin typeface="Inter"/>
              </a:rPr>
              <a:t>Kristian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0550" y="4502940"/>
            <a:ext cx="15335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38BDF8"/>
                </a:solidFill>
                <a:latin typeface="Inter"/>
              </a:rPr>
              <a:t>Annisa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7925" y="4502940"/>
            <a:ext cx="15335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38BDF8"/>
                </a:solidFill>
                <a:latin typeface="Inter"/>
              </a:rPr>
              <a:t>Zelda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5300" y="4502940"/>
            <a:ext cx="15335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 err="1">
                <a:solidFill>
                  <a:srgbClr val="38BDF8"/>
                </a:solidFill>
                <a:latin typeface="Inter"/>
              </a:rPr>
              <a:t>Saifulloh</a:t>
            </a:r>
            <a:endParaRPr sz="900" b="1" i="0" u="none" dirty="0">
              <a:solidFill>
                <a:srgbClr val="38BDF8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972675" y="4502940"/>
            <a:ext cx="15335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 err="1">
                <a:solidFill>
                  <a:srgbClr val="38BDF8"/>
                </a:solidFill>
                <a:latin typeface="Inter"/>
              </a:rPr>
              <a:t>Sukandar</a:t>
            </a:r>
            <a:endParaRPr sz="900" b="1" i="0" u="none" dirty="0">
              <a:solidFill>
                <a:srgbClr val="38BDF8"/>
              </a:solidFill>
              <a:latin typeface="Inter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BF39643-1859-C115-8ED2-E3CC80C3B1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72675" y="605225"/>
            <a:ext cx="1618459" cy="6561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E0C70AD-694A-C4F7-2F62-5C5F7CC71A1B}"/>
              </a:ext>
            </a:extLst>
          </p:cNvPr>
          <p:cNvSpPr txBox="1"/>
          <p:nvPr/>
        </p:nvSpPr>
        <p:spPr>
          <a:xfrm>
            <a:off x="600866" y="620702"/>
            <a:ext cx="61536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b="1" i="0" u="none" strike="noStrike" dirty="0">
                <a:solidFill>
                  <a:schemeClr val="bg1">
                    <a:lumMod val="85000"/>
                  </a:schemeClr>
                </a:solidFill>
                <a:effectLst/>
              </a:rPr>
              <a:t>Mata Kuliah</a:t>
            </a:r>
            <a:r>
              <a:rPr lang="en-ID" sz="1400" b="0" i="0" u="none" strike="noStrike" dirty="0">
                <a:solidFill>
                  <a:schemeClr val="bg1">
                    <a:lumMod val="85000"/>
                  </a:schemeClr>
                </a:solidFill>
                <a:effectLst/>
              </a:rPr>
              <a:t> : Network Programming &amp; Administration</a:t>
            </a:r>
            <a:br>
              <a:rPr lang="en-ID" sz="1400" b="0" i="0" u="none" strike="noStrike" dirty="0">
                <a:solidFill>
                  <a:schemeClr val="bg1">
                    <a:lumMod val="85000"/>
                  </a:schemeClr>
                </a:solidFill>
                <a:effectLst/>
              </a:rPr>
            </a:br>
            <a:r>
              <a:rPr lang="en-ID" sz="1400" b="1" i="0" u="none" strike="noStrike" dirty="0" err="1">
                <a:solidFill>
                  <a:schemeClr val="bg1">
                    <a:lumMod val="85000"/>
                  </a:schemeClr>
                </a:solidFill>
                <a:effectLst/>
              </a:rPr>
              <a:t>Kelas</a:t>
            </a:r>
            <a:r>
              <a:rPr lang="en-ID" sz="1400" b="0" i="0" u="none" strike="noStrike" dirty="0">
                <a:solidFill>
                  <a:schemeClr val="bg1">
                    <a:lumMod val="85000"/>
                  </a:schemeClr>
                </a:solidFill>
                <a:effectLst/>
              </a:rPr>
              <a:t> : IFN41 | </a:t>
            </a:r>
            <a:r>
              <a:rPr lang="en-ID" sz="1400" b="1" i="0" u="none" strike="noStrike" dirty="0">
                <a:solidFill>
                  <a:schemeClr val="bg1">
                    <a:lumMod val="85000"/>
                  </a:schemeClr>
                </a:solidFill>
                <a:effectLst/>
              </a:rPr>
              <a:t>Prodi</a:t>
            </a:r>
            <a:r>
              <a:rPr lang="en-ID" sz="1400" b="0" i="0" u="none" strike="noStrike" dirty="0">
                <a:solidFill>
                  <a:schemeClr val="bg1">
                    <a:lumMod val="85000"/>
                  </a:schemeClr>
                </a:solidFill>
                <a:effectLst/>
              </a:rPr>
              <a:t> : </a:t>
            </a:r>
            <a:r>
              <a:rPr lang="en-ID" sz="1400" b="0" i="0" u="none" strike="noStrike" dirty="0" err="1">
                <a:solidFill>
                  <a:schemeClr val="bg1">
                    <a:lumMod val="85000"/>
                  </a:schemeClr>
                </a:solidFill>
                <a:effectLst/>
              </a:rPr>
              <a:t>Informatika</a:t>
            </a:r>
            <a:r>
              <a:rPr lang="en-ID" sz="1400" b="0" i="0" u="none" strike="noStrike" dirty="0">
                <a:solidFill>
                  <a:schemeClr val="bg1">
                    <a:lumMod val="85000"/>
                  </a:schemeClr>
                </a:solidFill>
                <a:effectLst/>
              </a:rPr>
              <a:t> PJJ S1</a:t>
            </a:r>
            <a:br>
              <a:rPr lang="en-ID" sz="1400" b="0" i="0" u="none" strike="noStrike" dirty="0">
                <a:solidFill>
                  <a:schemeClr val="bg1">
                    <a:lumMod val="85000"/>
                  </a:schemeClr>
                </a:solidFill>
                <a:effectLst/>
              </a:rPr>
            </a:br>
            <a:r>
              <a:rPr lang="en-ID" sz="1400" b="1" i="0" u="none" strike="noStrike" dirty="0">
                <a:solidFill>
                  <a:schemeClr val="bg1">
                    <a:lumMod val="85000"/>
                  </a:schemeClr>
                </a:solidFill>
                <a:effectLst/>
              </a:rPr>
              <a:t>Dosen</a:t>
            </a:r>
            <a:r>
              <a:rPr lang="en-ID" sz="1400" b="0" i="0" u="none" strike="noStrike" dirty="0">
                <a:solidFill>
                  <a:schemeClr val="bg1">
                    <a:lumMod val="85000"/>
                  </a:schemeClr>
                </a:solidFill>
                <a:effectLst/>
              </a:rPr>
              <a:t> : Abdul Azzam </a:t>
            </a:r>
            <a:r>
              <a:rPr lang="en-ID" sz="1400" b="0" i="0" u="none" strike="noStrike" dirty="0" err="1">
                <a:solidFill>
                  <a:schemeClr val="bg1">
                    <a:lumMod val="85000"/>
                  </a:schemeClr>
                </a:solidFill>
                <a:effectLst/>
              </a:rPr>
              <a:t>Ajhari</a:t>
            </a:r>
            <a:r>
              <a:rPr lang="en-ID" sz="1400" b="0" i="0" u="none" strike="noStrike" dirty="0">
                <a:solidFill>
                  <a:schemeClr val="bg1">
                    <a:lumMod val="85000"/>
                  </a:schemeClr>
                </a:solidFill>
                <a:effectLst/>
              </a:rPr>
              <a:t>, </a:t>
            </a:r>
            <a:r>
              <a:rPr lang="en-ID" sz="1400" b="0" i="0" u="none" strike="noStrike" dirty="0" err="1">
                <a:solidFill>
                  <a:schemeClr val="bg1">
                    <a:lumMod val="85000"/>
                  </a:schemeClr>
                </a:solidFill>
                <a:effectLst/>
              </a:rPr>
              <a:t>S.Kom</a:t>
            </a:r>
            <a:r>
              <a:rPr lang="en-ID" sz="1400" b="0" i="0" u="none" strike="noStrike" dirty="0">
                <a:solidFill>
                  <a:schemeClr val="bg1">
                    <a:lumMod val="85000"/>
                  </a:schemeClr>
                </a:solidFill>
                <a:effectLst/>
              </a:rPr>
              <a:t>., </a:t>
            </a:r>
            <a:r>
              <a:rPr lang="en-ID" sz="1400" b="0" i="0" u="none" strike="noStrike" dirty="0" err="1">
                <a:solidFill>
                  <a:schemeClr val="bg1">
                    <a:lumMod val="85000"/>
                  </a:schemeClr>
                </a:solidFill>
                <a:effectLst/>
              </a:rPr>
              <a:t>M.Kom</a:t>
            </a:r>
            <a:r>
              <a:rPr lang="en-ID" sz="1400" b="0" i="0" u="none" strike="noStrike" dirty="0">
                <a:solidFill>
                  <a:schemeClr val="bg1">
                    <a:lumMod val="85000"/>
                  </a:schemeClr>
                </a:solidFill>
                <a:effectLst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9DE137-72FF-3623-37DF-280EAB34C231}"/>
              </a:ext>
            </a:extLst>
          </p:cNvPr>
          <p:cNvSpPr txBox="1"/>
          <p:nvPr/>
        </p:nvSpPr>
        <p:spPr>
          <a:xfrm>
            <a:off x="1771650" y="3872805"/>
            <a:ext cx="8096250" cy="271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 b="0" i="0" u="none" dirty="0" err="1">
                <a:solidFill>
                  <a:srgbClr val="CBD5E1"/>
                </a:solidFill>
                <a:latin typeface="Inter"/>
              </a:rPr>
              <a:t>Anggota</a:t>
            </a:r>
            <a:r>
              <a:rPr lang="en-US" sz="15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CBD5E1"/>
                </a:solidFill>
                <a:latin typeface="Inter"/>
              </a:rPr>
              <a:t>Kelompok</a:t>
            </a:r>
            <a:r>
              <a:rPr lang="en-US" sz="1500" b="0" i="0" u="none" dirty="0">
                <a:solidFill>
                  <a:srgbClr val="CBD5E1"/>
                </a:solidFill>
                <a:latin typeface="Inter"/>
              </a:rPr>
              <a:t> 5 dan </a:t>
            </a:r>
            <a:r>
              <a:rPr lang="en-US" sz="1500" b="0" i="0" u="none" dirty="0" err="1">
                <a:solidFill>
                  <a:srgbClr val="CBD5E1"/>
                </a:solidFill>
                <a:latin typeface="Inter"/>
              </a:rPr>
              <a:t>Kelompok</a:t>
            </a:r>
            <a:r>
              <a:rPr lang="en-US" sz="1500" b="0" i="0" u="none" dirty="0">
                <a:solidFill>
                  <a:srgbClr val="CBD5E1"/>
                </a:solidFill>
                <a:latin typeface="Inter"/>
              </a:rPr>
              <a:t> 9:</a:t>
            </a:r>
            <a:endParaRPr sz="1500" b="0" i="0" u="none" dirty="0">
              <a:solidFill>
                <a:srgbClr val="CBD5E1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719637"/>
            <a:ext cx="11029950" cy="409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519362"/>
            <a:ext cx="5324475" cy="2009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519362"/>
            <a:ext cx="5324475" cy="2009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7875" y="533400"/>
            <a:ext cx="1943100" cy="295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862512"/>
            <a:ext cx="123825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6300" y="2814637"/>
            <a:ext cx="4970621" cy="33337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Poppins"/>
              </a:rPr>
              <a:t>Arsitektur Modern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262312"/>
            <a:ext cx="4733925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Aplikasi dibangun menggunakan </a:t>
            </a:r>
            <a:r>
              <a:rPr sz="1275" b="1" i="0" u="none">
                <a:solidFill>
                  <a:srgbClr val="94A3B8"/>
                </a:solidFill>
                <a:latin typeface="Inter"/>
              </a:rPr>
              <a:t>Python Flask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yang dijalankan sebagai </a:t>
            </a:r>
            <a:r>
              <a:rPr sz="1275" b="1" i="0" u="none">
                <a:solidFill>
                  <a:srgbClr val="94A3B8"/>
                </a:solidFill>
                <a:latin typeface="Inter"/>
              </a:rPr>
              <a:t>microservices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di atas container </a:t>
            </a:r>
            <a:r>
              <a:rPr sz="1275" b="1" i="0" u="none">
                <a:solidFill>
                  <a:srgbClr val="94A3B8"/>
                </a:solidFill>
                <a:latin typeface="Inter"/>
              </a:rPr>
              <a:t>Docker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. Akses kontrol pengguna dikelola penuh melalui autentikasi token berbasis </a:t>
            </a:r>
            <a:r>
              <a:rPr sz="1275" b="1" i="0" u="none">
                <a:solidFill>
                  <a:srgbClr val="94A3B8"/>
                </a:solidFill>
                <a:latin typeface="Inter"/>
              </a:rPr>
              <a:t>JSON Web Token (JWT)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2814637"/>
            <a:ext cx="4970621" cy="33337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Poppins"/>
              </a:rPr>
              <a:t>Celah Keamanan JWT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262312"/>
            <a:ext cx="4733925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Sistem memiliki kerentanan kritis: server mempercayai secara langsung parameter alg pada header token. Hal ini memungkinkan </a:t>
            </a:r>
            <a:r>
              <a:rPr sz="1275" b="1" i="0" u="none">
                <a:solidFill>
                  <a:srgbClr val="94A3B8"/>
                </a:solidFill>
                <a:latin typeface="Inter"/>
              </a:rPr>
              <a:t>privilege escalation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di mana token akun bertipe </a:t>
            </a:r>
            <a:r>
              <a:rPr sz="1275" b="0" i="1" u="none">
                <a:solidFill>
                  <a:srgbClr val="94A3B8"/>
                </a:solidFill>
                <a:latin typeface="Inter"/>
              </a:rPr>
              <a:t>user biasa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dimanipulasi menjadi </a:t>
            </a:r>
            <a:r>
              <a:rPr sz="1275" b="0" i="1" u="none">
                <a:solidFill>
                  <a:srgbClr val="94A3B8"/>
                </a:solidFill>
                <a:latin typeface="Inter"/>
              </a:rPr>
              <a:t>admin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2862262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1775" y="2862262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494355"/>
            <a:ext cx="8671130" cy="39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 err="1">
                <a:solidFill>
                  <a:srgbClr val="F1F5F9"/>
                </a:solidFill>
                <a:latin typeface="Inter"/>
              </a:rPr>
              <a:t>Pengenalan</a:t>
            </a:r>
            <a:r>
              <a:rPr sz="2550" b="1" i="0" u="none" dirty="0">
                <a:solidFill>
                  <a:srgbClr val="F1F5F9"/>
                </a:solidFill>
                <a:latin typeface="Inter"/>
              </a:rPr>
              <a:t> Project &amp; </a:t>
            </a:r>
            <a:r>
              <a:rPr sz="2550" b="1" i="0" u="none" dirty="0" err="1">
                <a:solidFill>
                  <a:srgbClr val="F1F5F9"/>
                </a:solidFill>
                <a:latin typeface="Inter"/>
              </a:rPr>
              <a:t>Masalah</a:t>
            </a:r>
            <a:r>
              <a:rPr sz="2550" b="1" i="0" u="none" dirty="0">
                <a:solidFill>
                  <a:srgbClr val="F1F5F9"/>
                </a:solidFill>
                <a:latin typeface="Inter"/>
              </a:rPr>
              <a:t> </a:t>
            </a:r>
            <a:r>
              <a:rPr sz="2550" b="1" i="0" u="none" dirty="0" err="1">
                <a:solidFill>
                  <a:srgbClr val="F1F5F9"/>
                </a:solidFill>
                <a:latin typeface="Inter"/>
              </a:rPr>
              <a:t>Keamanan</a:t>
            </a:r>
            <a:endParaRPr sz="2550" b="1" i="0" u="none" dirty="0">
              <a:solidFill>
                <a:srgbClr val="F1F5F9"/>
              </a:solidFill>
              <a:latin typeface="Inter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912518"/>
            <a:ext cx="5133975" cy="57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1393031"/>
            <a:ext cx="539067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oppins"/>
              </a:rPr>
              <a:t>Metodologi Simulasi &amp; Tujuan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9525"/>
            <a:ext cx="60864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2021681"/>
            <a:ext cx="48006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Red Team (Offensive):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Bertugas melakukan audit, reconnaissance, serta mengeksploitasi celah JWT secara manual tanpa memutus koneksi server.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2921793"/>
            <a:ext cx="48006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Blue Team (Defensive):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Merekam lalu lintas jaringan, menganalisis paket data (PCAP), menemukan bukti eksploitasi, memblokir attacker, dan melakukan patching.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821906"/>
            <a:ext cx="48006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Tujuan Utama: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Menguji ketahanan sistem secara end-to-end, dari tahapan build, offensive testing, forensic analysis, hingga hardening.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2045493"/>
            <a:ext cx="1524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2945606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3845718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725441"/>
            <a:ext cx="11029950" cy="7313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191791"/>
            <a:ext cx="3517850" cy="2438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7000" y="2191791"/>
            <a:ext cx="3517850" cy="2438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975" y="2191791"/>
            <a:ext cx="3517850" cy="2438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1650" y="533400"/>
            <a:ext cx="2219325" cy="2952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70012" y="4906416"/>
            <a:ext cx="192062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E2E8F0"/>
                </a:solidFill>
                <a:latin typeface="monospace"/>
              </a:rPr>
              <a:t>header.payload.signature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2468016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9150" y="3115716"/>
            <a:ext cx="92011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oppins"/>
              </a:rPr>
              <a:t>1. Header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496716"/>
            <a:ext cx="30416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Berisi metadata token seperti tipe token (JWT) dan algoritma enkripsi/penandatanganan (misalnya HS256 atau none).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5125" y="2468016"/>
            <a:ext cx="476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5125" y="3115716"/>
            <a:ext cx="107013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oppins"/>
              </a:rPr>
              <a:t>2. Payload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5125" y="3496716"/>
            <a:ext cx="30416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Memuat klaim data pengguna seperti ID, username, dan hak akses/role (contoh: "role": "user" vs "role": "admin").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1100" y="2468016"/>
            <a:ext cx="476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31100" y="3115716"/>
            <a:ext cx="124015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oppins"/>
              </a:rPr>
              <a:t>3. Signature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1100" y="3496716"/>
            <a:ext cx="30416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Hasil kriptografi hashing yang memastikan bahwa konten header &amp; payload belum pernah diubah oleh pihak ketiga tanpa kunci rahasia.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6787" y="2601366"/>
            <a:ext cx="180975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8475" y="2601366"/>
            <a:ext cx="20955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4450" y="2601366"/>
            <a:ext cx="209550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1025" y="485775"/>
            <a:ext cx="110299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1F5F9"/>
                </a:solidFill>
                <a:latin typeface="Inter"/>
              </a:rPr>
              <a:t>Konsep JSON Web Token (JWT)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533900"/>
            <a:ext cx="5324475" cy="57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14537"/>
            <a:ext cx="5324475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1650" y="533400"/>
            <a:ext cx="2219325" cy="295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2024062"/>
            <a:ext cx="5305425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543175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DMZ Network (10.10.0.0/24):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Ditempati oleh Nginx Reverse Proxy (10.10.0.10) &amp; Flask Backend (10.10.0.11).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Internal Network (10.10.1.0/24):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Ditempati Backend (10.10.1.11) &amp; Database MySQL (10.10.1.12).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57625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Port Exposure: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Hanya Nginx port 80 yang dipublish ke Host. Backend &amp; MySQL diisolasi penuh dari akses publik.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2566987"/>
            <a:ext cx="219075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3224212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25" y="3881437"/>
            <a:ext cx="190500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485775"/>
            <a:ext cx="110299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1F5F9"/>
                </a:solidFill>
                <a:latin typeface="Inter"/>
              </a:rPr>
              <a:t>Arsitektur DMZ &amp; Topologi Jaringan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05087"/>
            <a:ext cx="3517850" cy="2438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605087"/>
            <a:ext cx="3517850" cy="2438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605087"/>
            <a:ext cx="3517850" cy="2438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4025" y="533400"/>
            <a:ext cx="2266950" cy="295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881312"/>
            <a:ext cx="476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3529012"/>
            <a:ext cx="189023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oppins"/>
              </a:rPr>
              <a:t>REST API (Sinkron)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910012"/>
            <a:ext cx="30416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Endpoint Flask meliputi /api/register, /api/login untuk perolehan token JWT, /api/profile, serta target rahasia /api/customers.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5125" y="2881312"/>
            <a:ext cx="476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5125" y="3529012"/>
            <a:ext cx="23502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oppins"/>
              </a:rPr>
              <a:t>WebSocket (Asinkron)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5125" y="3910012"/>
            <a:ext cx="30416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Komunikasi real-time melalui /ws/notifications (Flask-Sock) untuk push notifikasi, pesan broadcast, dan event streaming ke client.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1100" y="2881312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31100" y="3529012"/>
            <a:ext cx="178022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oppins"/>
              </a:rPr>
              <a:t>Async Job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100" y="3910012"/>
            <a:ext cx="30416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Pemrosesan tugas latar belakang via ThreadPoolExecutor. Client menerima job_id saat memasukkan job lalu melakukan polling status.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925" y="3014662"/>
            <a:ext cx="26670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2287" y="3014662"/>
            <a:ext cx="161925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4450" y="3014662"/>
            <a:ext cx="2095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485775"/>
            <a:ext cx="110299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1F5F9"/>
                </a:solidFill>
                <a:latin typeface="Inter"/>
              </a:rPr>
              <a:t>Implementasi API REST &amp; WebSocket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372100"/>
            <a:ext cx="11029950" cy="409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4025" y="533400"/>
            <a:ext cx="2266950" cy="29527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1025" y="1866900"/>
            <a:ext cx="11029950" cy="3314700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1025" y="1866900"/>
          <a:ext cx="11020424" cy="331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9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3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Poppins"/>
                        </a:rPr>
                        <a:t>Komponen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Poppins"/>
                        </a:rPr>
                        <a:t>Teknologi &amp; Konfigurasi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Poppins"/>
                        </a:rPr>
                        <a:t>Fungsi Keamanan / Proteksi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Inter"/>
                        </a:rPr>
                        <a:t>Orkestrasi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Docker Compose (3 Container, 2 Bridge Nets)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Menyediakan isolasi process &amp; segmentasi IP statis antar service.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Inter"/>
                        </a:rPr>
                        <a:t>Host Firewall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UFW (Default Deny Incoming)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Hanya mengizinkan trafik SSH &amp; Port 80 dari subnet Tailscale.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Inter"/>
                        </a:rPr>
                        <a:t>Container Chain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iptables (DOCKER-USER chain)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Membatasi koneksi NEW maksimal 10 req/detik (burst 20) per IP source.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4A3B8"/>
                          </a:solidFill>
                          <a:latin typeface="Inter"/>
                        </a:rPr>
                        <a:t>Application Proxy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Nginx Rate Limiting (limit_req)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94A3B8"/>
                          </a:solidFill>
                          <a:latin typeface="Inter"/>
                        </a:rPr>
                        <a:t>Menciptakan pertahanan berlapis (defense-in-depth) dari serangan DoS/bruteforce.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85787" y="3367087"/>
            <a:ext cx="17281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313979" y="3367087"/>
            <a:ext cx="33891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03093" y="3367087"/>
            <a:ext cx="590311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5787" y="3895725"/>
            <a:ext cx="17281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13979" y="3895725"/>
            <a:ext cx="33891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03093" y="3895725"/>
            <a:ext cx="590311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5787" y="4424362"/>
            <a:ext cx="17281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313979" y="4424362"/>
            <a:ext cx="33891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03093" y="4424362"/>
            <a:ext cx="590311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0299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1F5F9"/>
                </a:solidFill>
                <a:latin typeface="Inter"/>
              </a:rPr>
              <a:t>Orkestrasi Container &amp; Network Security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653158"/>
            <a:ext cx="5324475" cy="24375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2125" y="533400"/>
            <a:ext cx="2228850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95667" y="4327028"/>
            <a:ext cx="112037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87171"/>
                </a:solidFill>
                <a:latin typeface="monospace"/>
              </a:rPr>
              <a:t>&lt;-- Restricted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95562"/>
            <a:ext cx="49911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Tooling Manual: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Menggunakan </a:t>
            </a:r>
            <a:r>
              <a:rPr sz="1275" b="1" i="0" u="none">
                <a:solidFill>
                  <a:srgbClr val="F8FAFC"/>
                </a:solidFill>
                <a:latin typeface="Inter"/>
              </a:rPr>
              <a:t>Burp Suite (Repeater &amp; Intruder)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tanpa melibatkan automated scanner untuk menjaga stabilitas server.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95675"/>
            <a:ext cx="49911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Endpoint Discovery: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Melakukan query ke GET /api (misconfiguration) yang membocorkan seluruh daftar endpoint internal.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95787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Initial Access: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Melakukan registrasi &amp; login user biasa untuk memunculkan struktur asli Authorization: Bearer 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619375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519487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419600"/>
            <a:ext cx="171450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1025" y="485775"/>
            <a:ext cx="110299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1F5F9"/>
                </a:solidFill>
                <a:latin typeface="Inter"/>
              </a:rPr>
              <a:t>Red Team: Reconnaissance &amp; Enumerasi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386387"/>
            <a:ext cx="11029950" cy="409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852612"/>
            <a:ext cx="5324475" cy="1790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857375"/>
            <a:ext cx="5324475" cy="1781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2125" y="533400"/>
            <a:ext cx="2228850" cy="295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8675" y="2100262"/>
            <a:ext cx="48291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0" i="0" u="none">
                <a:solidFill>
                  <a:srgbClr val="F87171"/>
                </a:solidFill>
                <a:latin typeface="Poppins ExtraBold"/>
              </a:rPr>
              <a:t>403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" y="2709862"/>
            <a:ext cx="48291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Inter SemiBold"/>
              </a:rPr>
              <a:t>Sebelum Bypass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75" y="2986087"/>
            <a:ext cx="482917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Akses user normal ke /api/customers ditolak karena claim role berstatus "user".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2105025"/>
            <a:ext cx="48291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0" i="0" u="none">
                <a:solidFill>
                  <a:srgbClr val="4ADE80"/>
                </a:solidFill>
                <a:latin typeface="Poppins ExtraBold"/>
              </a:rPr>
              <a:t>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2714625"/>
            <a:ext cx="48291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Inter SemiBold"/>
              </a:rPr>
              <a:t>Setelah Bypass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2990850"/>
            <a:ext cx="48291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Bypass berhasil! Data sensitif admin berhasil diakses sepenuhnya tanpa verifikasi signature.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1437"/>
            <a:ext cx="106965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Vektor 1 (Algorithm Confusion - alg=none):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Mengubah header menjadi {"alg":"none"} dan payload {"role":"admin"} tanpa menambahkan signature.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38662"/>
            <a:ext cx="106965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Vektor 2 (Forge HS256 Secret Lemah):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Membuat token palsu ber-role admin menggunakan HMAC dengan secret lemah (rahasia-super-lemah).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905250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4562475"/>
            <a:ext cx="152400" cy="1809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1025" y="485775"/>
            <a:ext cx="110299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1F5F9"/>
                </a:solidFill>
                <a:latin typeface="Inter"/>
              </a:rPr>
              <a:t>Red Team: Eksploitasi Celah JWT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14537"/>
            <a:ext cx="53244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93008"/>
            <a:ext cx="4991100" cy="85308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533400"/>
            <a:ext cx="2466975" cy="295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2024062"/>
            <a:ext cx="5305425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373808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Packet Capture Engine: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Menggunakan tshark langsung di dalam container Nginx pada interface tailscale0.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31033"/>
            <a:ext cx="4991100" cy="14150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Isolasi Paket (BPF Filter):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Memfilter paket secara presisi menggunakan ekspresi BPF: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17541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Export PCAP: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Mengalirkan stdin stream langsung ke Wireshark GUI untuk inspeksi visual interaktif.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2397621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3054846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25" y="4641353"/>
            <a:ext cx="190500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485775"/>
            <a:ext cx="110299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1F5F9"/>
                </a:solidFill>
                <a:latin typeface="Inter"/>
              </a:rPr>
              <a:t>Blue Team: Capture Trafik &amp; Filter BPF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933950"/>
            <a:ext cx="11029950" cy="409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305050"/>
            <a:ext cx="3517850" cy="2438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7000" y="2305050"/>
            <a:ext cx="3517850" cy="2438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975" y="2305050"/>
            <a:ext cx="3517850" cy="2438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533400"/>
            <a:ext cx="2466975" cy="295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2581275"/>
            <a:ext cx="476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9150" y="3228975"/>
            <a:ext cx="186023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oppins"/>
              </a:rPr>
              <a:t>1. Status Code Flip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3609975"/>
            <a:ext cx="30416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Terlihat IP attacker awalnya menerima HTTP </a:t>
            </a:r>
            <a:r>
              <a:rPr sz="1125" b="1" i="0" u="none">
                <a:solidFill>
                  <a:srgbClr val="94A3B8"/>
                </a:solidFill>
                <a:latin typeface="Inter"/>
              </a:rPr>
              <a:t>403 Forbidden</a:t>
            </a:r>
            <a:r>
              <a:rPr sz="1125" b="0" i="0" u="none">
                <a:solidFill>
                  <a:srgbClr val="94A3B8"/>
                </a:solidFill>
                <a:latin typeface="Inter"/>
              </a:rPr>
              <a:t> pada /api/customers, kemudian mendadak menerima </a:t>
            </a:r>
            <a:r>
              <a:rPr sz="1125" b="1" i="0" u="none">
                <a:solidFill>
                  <a:srgbClr val="94A3B8"/>
                </a:solidFill>
                <a:latin typeface="Inter"/>
              </a:rPr>
              <a:t>200 OK</a:t>
            </a:r>
            <a:r>
              <a:rPr sz="1125" b="0" i="0" u="none">
                <a:solidFill>
                  <a:srgbClr val="94A3B8"/>
                </a:solidFill>
                <a:latin typeface="Inter"/>
              </a:rPr>
              <a:t> dari IP yang sama.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5125" y="2581275"/>
            <a:ext cx="476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5125" y="3228975"/>
            <a:ext cx="214026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oppins"/>
              </a:rPr>
              <a:t>2. Follow TCP 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5125" y="3609975"/>
            <a:ext cx="30416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Membuka detail stream HTTP dan mengekstrak string Header Authorization: Bearer eyJ... yang tampak tidak wajar.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1100" y="2581275"/>
            <a:ext cx="476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31100" y="3228975"/>
            <a:ext cx="234029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oppins"/>
              </a:rPr>
              <a:t>3. Temuan Token Palsu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100" y="3609975"/>
            <a:ext cx="30416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Decoding token membuktikan header membawa alg: none dan payload diinjeksi role: admin, serta pesan terinjeksi di WebSocket.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500" y="2714625"/>
            <a:ext cx="20955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4187" y="2714625"/>
            <a:ext cx="238125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88263" y="2714625"/>
            <a:ext cx="161925" cy="2095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1025" y="485775"/>
            <a:ext cx="110299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1F5F9"/>
                </a:solidFill>
                <a:latin typeface="Inter"/>
              </a:rPr>
              <a:t>Blue Team: Analisis Paket &amp; Anomali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148262"/>
            <a:ext cx="11029950" cy="57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95612"/>
            <a:ext cx="5324475" cy="129525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3050" y="533400"/>
            <a:ext cx="2447925" cy="295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272087"/>
            <a:ext cx="8096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1" u="none">
                <a:solidFill>
                  <a:srgbClr val="CBD5E1"/>
                </a:solidFill>
                <a:latin typeface="Inter"/>
              </a:rPr>
              <a:t>Kesimpulan: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1928812"/>
            <a:ext cx="5590698" cy="2857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Poppins"/>
              </a:rPr>
              <a:t>Langkah Remediasi &amp; Hardening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2595562"/>
            <a:ext cx="5590698" cy="2857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ADE80"/>
                </a:solidFill>
                <a:latin typeface="Poppins"/>
              </a:rPr>
              <a:t>Verifikasi Akhir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1976437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643187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48067" y="3365152"/>
            <a:ext cx="163487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F87171"/>
                </a:solidFill>
                <a:latin typeface="monospace"/>
              </a:rPr>
              <a:t>401 / 403 Unauthorized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067" y="3563242"/>
            <a:ext cx="156046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F87171"/>
                </a:solidFill>
                <a:latin typeface="monospace"/>
              </a:rPr>
              <a:t>401 Invalid Signature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067" y="3761333"/>
            <a:ext cx="1263253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F87171"/>
                </a:solidFill>
                <a:latin typeface="monospace"/>
              </a:rPr>
              <a:t>403 Access Denied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067" y="3959423"/>
            <a:ext cx="44588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ADE80"/>
                </a:solidFill>
                <a:latin typeface="monospace"/>
              </a:rPr>
              <a:t>200 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28862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Whitelist Algorithm: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Menolak tegas alg:none &amp; memvalidasi wajib signature.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86087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DB Role Validation: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Re-query role pengguna ke MySQL Database.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3312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Firewall Block: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Eksekusi iptables DROP untuk memblokir IP penyerang.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00537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Secret Management: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Memindahkan JWT secret ke environment variables.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2352675"/>
            <a:ext cx="15240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3009900"/>
            <a:ext cx="152400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3667125"/>
            <a:ext cx="15240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4324350"/>
            <a:ext cx="152400" cy="1809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1025" y="485775"/>
            <a:ext cx="110299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1F5F9"/>
                </a:solidFill>
                <a:latin typeface="Inter"/>
              </a:rPr>
              <a:t>Remediasi, Verifikasi &amp; Kesimpulan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FED58-CF81-0FBF-EE78-E90B37A69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F77B8F-7AF2-F14D-ABDA-EB402B189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CD07E0-0DD6-AF42-6BF6-2F685C3E9C71}"/>
              </a:ext>
            </a:extLst>
          </p:cNvPr>
          <p:cNvSpPr txBox="1"/>
          <p:nvPr/>
        </p:nvSpPr>
        <p:spPr>
          <a:xfrm>
            <a:off x="1035367" y="3131865"/>
            <a:ext cx="10121265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900" b="1" i="0" u="none" dirty="0" err="1">
                <a:solidFill>
                  <a:srgbClr val="FFFFFF"/>
                </a:solidFill>
                <a:latin typeface="Poppins"/>
              </a:rPr>
              <a:t>Terima</a:t>
            </a:r>
            <a:r>
              <a:rPr sz="3900" b="1" i="0" u="none" dirty="0">
                <a:solidFill>
                  <a:srgbClr val="FFFFFF"/>
                </a:solidFill>
                <a:latin typeface="Poppins"/>
              </a:rPr>
              <a:t> Kasih</a:t>
            </a:r>
          </a:p>
        </p:txBody>
      </p:sp>
    </p:spTree>
    <p:extLst>
      <p:ext uri="{BB962C8B-B14F-4D97-AF65-F5344CB8AC3E}">
        <p14:creationId xmlns:p14="http://schemas.microsoft.com/office/powerpoint/2010/main" val="1222129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1067</Words>
  <Application>Microsoft Office PowerPoint</Application>
  <PresentationFormat>Widescreen</PresentationFormat>
  <Paragraphs>100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Inter</vt:lpstr>
      <vt:lpstr>Inter SemiBold</vt:lpstr>
      <vt:lpstr>monospace</vt:lpstr>
      <vt:lpstr>Poppins</vt:lpstr>
      <vt:lpstr>Poppins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Infinite Learning 04</cp:lastModifiedBy>
  <cp:revision>8</cp:revision>
  <dcterms:created xsi:type="dcterms:W3CDTF">2013-01-27T09:14:16Z</dcterms:created>
  <dcterms:modified xsi:type="dcterms:W3CDTF">2026-08-15T16:42:00Z</dcterms:modified>
  <cp:category/>
</cp:coreProperties>
</file>
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47887"/>
            <a:ext cx="3376612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090838"/>
            <a:ext cx="11029950" cy="61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633662"/>
            <a:ext cx="11581447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b="1" sz="3900" i="0" u="none">
                <a:solidFill>
                  <a:srgbClr val="F8FAFC"/>
                </a:solidFill>
                <a:latin typeface="Poppins"/>
              </a:rPr>
              <a:t>Layanan API Web dengan Bypass JWT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418433"/>
            <a:ext cx="85725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Simulasi Penyerangan (Red Team) &amp; Pertahanan (Blue Team) pada Arsitektur Microservices Docker &amp; Segmentasi DMZ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2233612"/>
            <a:ext cx="13811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4338488"/>
            <a:ext cx="27051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Mata Kuliah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Inter Medium"/>
              </a:rPr>
              <a:t>Network Programming &amp;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7125" y="4338488"/>
            <a:ext cx="25336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Dosen Pengampu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Inter Medium"/>
              </a:rPr>
              <a:t>Abdul Azzam Ajhari, S.Kom., M.Kom.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4338488"/>
            <a:ext cx="34290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Tim Penyusun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Inter Medium"/>
              </a:rPr>
              <a:t>Kelompok 5 &amp; Kelompok 9 (Universitas Siber Asia)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27101"/>
            <a:ext cx="5372100" cy="25753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27101"/>
            <a:ext cx="5372100" cy="25753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3289101"/>
            <a:ext cx="502062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60A5FA"/>
                </a:solidFill>
                <a:latin typeface="Poppins SemiBold"/>
              </a:rPr>
              <a:t>Tujuan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717726"/>
            <a:ext cx="478155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Membangun sistem API REST &amp; WebSocket berbasis Microservices dalam container Docker dengan keamanan jaringan DMZ, serta membatasi lalu lintas menggunakan Firewall &amp; Rate Limiting.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3289101"/>
            <a:ext cx="502062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60A5FA"/>
                </a:solidFill>
                <a:latin typeface="Poppins SemiBold"/>
              </a:rPr>
              <a:t>Masalah Keamanan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717726"/>
            <a:ext cx="478155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Kerentanan otentikasi JWT pada verifikasi token yang memungkinkan penyerang mengambil alih akses administrator melalui manipulasi header 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alg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dan eksploitasi kunci rahasia lemah.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850951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850951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1. Project &amp; Masalah Utama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48577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79464"/>
            <a:ext cx="3517850" cy="28705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379464"/>
            <a:ext cx="3517850" cy="28705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379464"/>
            <a:ext cx="3517850" cy="28705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2674739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8675" y="3436739"/>
            <a:ext cx="317367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7171"/>
                </a:solidFill>
                <a:latin typeface="Poppins SemiBold"/>
              </a:rPr>
              <a:t>Algorithm Confusion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3865364"/>
            <a:ext cx="302255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Kode backend menerima header 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{"alg": "none"}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tanpa melakukan verifikasi signature digital pada token JWT yang dikirimkan client.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2674739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4650" y="3436739"/>
            <a:ext cx="317367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BBF24"/>
                </a:solidFill>
                <a:latin typeface="Poppins SemiBold"/>
              </a:rPr>
              <a:t>Weak Secret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4650" y="3865364"/>
            <a:ext cx="302255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Penggunaan kunci rahasia yang tertebak (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rahasia-super-lemah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) sehingga rentan terhadap serangan offline brute-force cracker.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625" y="2674739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0625" y="3436739"/>
            <a:ext cx="317367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A78BFA"/>
                </a:solidFill>
                <a:latin typeface="Poppins SemiBold"/>
              </a:rPr>
              <a:t>Over-trust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3865364"/>
            <a:ext cx="302255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Aplikasi langsung memercayai klaim 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role: admin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di dalam payload JWT tanpa melakukan validasi ulang ke database MySQL.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5" y="2789039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8950" y="2789039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063" y="2789039"/>
            <a:ext cx="4286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1. Vektor Kerentanan JWT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48577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05012"/>
            <a:ext cx="53721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005012"/>
            <a:ext cx="564070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Isolasi Subnet 2-Layer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014537"/>
            <a:ext cx="5353050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433637"/>
            <a:ext cx="50387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DMZ Subnet (10.10.0.0/24):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Berisi Nginx Reverse Proxy (10.10.0.10) &amp; Backend Flask (10.10.0.11).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92648"/>
            <a:ext cx="50387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Internal Subnet (10.10.1.0/24):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Berisi Flask Backend (10.10.1.11) &amp; Database MySQL (10.10.1.12).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51659"/>
            <a:ext cx="50387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Tailscale VPN: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Akses luar hanya diizinkan melalui VPN Tailscale pada Port 80 Nginx.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466975"/>
            <a:ext cx="21907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125985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784996"/>
            <a:ext cx="15240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2. Arsitektur DMZ &amp; Subnetting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48577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25179"/>
            <a:ext cx="5372100" cy="23791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625179"/>
            <a:ext cx="5372100" cy="23791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3434804"/>
            <a:ext cx="502062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60A5FA"/>
                </a:solidFill>
                <a:latin typeface="Poppins SemiBold"/>
              </a:rPr>
              <a:t>Perlindungan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863429"/>
            <a:ext cx="47815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Database MySQL </a:t>
            </a:r>
            <a:r>
              <a:rPr b="1" sz="1200" i="0" u="none">
                <a:solidFill>
                  <a:srgbClr val="94A3B8"/>
                </a:solidFill>
                <a:latin typeface="Inter"/>
              </a:rPr>
              <a:t>tidak dipublish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ke port host maupun ke zona DMZ. Database hanya dapat diakses secara lokal oleh Flask backend via jaringan internal Docker.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3434804"/>
            <a:ext cx="502062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60A5FA"/>
                </a:solidFill>
                <a:latin typeface="Poppins SemiBold"/>
              </a:rPr>
              <a:t>Lokalisasi Dampak Eksploit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863429"/>
            <a:ext cx="47815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Apabila DMZ/Nginx terkompromi, peretas tidak memiliki akses langsung ke layer persistence/database karena segmentasi subnet yang terpisah ketat.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949029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949029"/>
            <a:ext cx="3429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2. Keunggulan Desain Infrastruktur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48577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79464"/>
            <a:ext cx="3517850" cy="28705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379464"/>
            <a:ext cx="3517850" cy="28705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379464"/>
            <a:ext cx="3517850" cy="28705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2674739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8675" y="3436739"/>
            <a:ext cx="317367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REST API Sync &amp; Async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3865364"/>
            <a:ext cx="302255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Endpoint Auth (Register/Login), Profile, dan Job Queue eksekusi latar belakang menggunakan Python 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ThreadPoolExecutor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2674739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4650" y="3436739"/>
            <a:ext cx="317367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WebSocket Real-Time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4650" y="3865364"/>
            <a:ext cx="30225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Channel 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/ws/notifications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untuk push notification real-time &amp; broadcast event secara asynchronous ke client aktif.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625" y="2674739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0625" y="3436739"/>
            <a:ext cx="317367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Nginx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3865364"/>
            <a:ext cx="302255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Reverse Proxy bertindak sebagai gateway tunggal yang menembuskan traffic eksternal menuju service microservices internal.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112" y="2789039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8000" y="2789039"/>
            <a:ext cx="3048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4925" y="2789039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3. Layanan API &amp; Asynchronous Jobs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48577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206228"/>
            <a:ext cx="11029950" cy="3217068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206228"/>
          <a:ext cx="11020424" cy="3217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42653"/>
                <a:gridCol w="1839962"/>
                <a:gridCol w="3008858"/>
                <a:gridCol w="4228951"/>
              </a:tblGrid>
              <a:tr h="804267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Inter SemiBold"/>
                        </a:rPr>
                        <a:t>Layer Proteksi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Inter SemiBold"/>
                        </a:rPr>
                        <a:t>Teknologi / Komponen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Inter SemiBold"/>
                        </a:rPr>
                        <a:t>Konfigurasi Aturan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Inter SemiBold"/>
                        </a:rPr>
                        <a:t>Fungsi Keamanan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8042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94A3B8"/>
                          </a:solidFill>
                          <a:latin typeface="Inter"/>
                        </a:rPr>
                        <a:t>Host OS Firewall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UFW Firewall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default deny</a:t>
                      </a:r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 | IP Subnet Tailscale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Membatasi akses port host hanya dari IP VPN terdaftar.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42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94A3B8"/>
                          </a:solidFill>
                          <a:latin typeface="Inter"/>
                        </a:rPr>
                        <a:t>Docker Transport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iptables DOCKER-USER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Module </a:t>
                      </a:r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hashlimit</a:t>
                      </a:r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 (Max 10 req/s, Burst 20)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Mencegah serangan Denial of Service (DoS) pada level paket SYN.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42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94A3B8"/>
                          </a:solidFill>
                          <a:latin typeface="Inter"/>
                        </a:rPr>
                        <a:t>Application Gateway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Nginx Rate Limiting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limit_req zone=one burst=20 nodelay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Membatasi brute force HTTP request ke endpoint sensitif API.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3003351"/>
            <a:ext cx="19426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28441" y="3003351"/>
            <a:ext cx="18399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68403" y="3003351"/>
            <a:ext cx="300885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77261" y="3003351"/>
            <a:ext cx="42289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787" y="3805237"/>
            <a:ext cx="19426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28441" y="3805237"/>
            <a:ext cx="18399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403" y="3805237"/>
            <a:ext cx="300885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7261" y="3805237"/>
            <a:ext cx="42289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787" y="4607123"/>
            <a:ext cx="19426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28441" y="4607123"/>
            <a:ext cx="18399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8403" y="4607123"/>
            <a:ext cx="300885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77261" y="4607123"/>
            <a:ext cx="42289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787" y="5409009"/>
            <a:ext cx="19426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28441" y="5409009"/>
            <a:ext cx="18399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8403" y="5409009"/>
            <a:ext cx="300885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77261" y="5409009"/>
            <a:ext cx="42289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3. Proteksi Layer Jaringan &amp; Rate Limit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48577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243387"/>
            <a:ext cx="2536775" cy="10132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33" y="2753915"/>
            <a:ext cx="2536775" cy="10132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042" y="4243387"/>
            <a:ext cx="2536775" cy="10036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050" y="2753915"/>
            <a:ext cx="2536775" cy="10132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5" y="3986212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624" y="4424362"/>
            <a:ext cx="236357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87171"/>
                </a:solidFill>
                <a:latin typeface="Poppins SemiBold"/>
              </a:rPr>
              <a:t>1. Reconnaissance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719637"/>
            <a:ext cx="2251025" cy="355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Enumerasi endpoint API 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GET /api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 &amp; pemicuan error response.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8632" y="2934890"/>
            <a:ext cx="236357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87171"/>
                </a:solidFill>
                <a:latin typeface="Poppins SemiBold"/>
              </a:rPr>
              <a:t>2. alg=none Bypass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4908" y="3230165"/>
            <a:ext cx="2251025" cy="355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Mengubah header JWT menjadi 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{"alg":"none"}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 tanpa signature.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9641" y="4424362"/>
            <a:ext cx="236357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87171"/>
                </a:solidFill>
                <a:latin typeface="Poppins SemiBold"/>
              </a:rPr>
              <a:t>3. Forge HS256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5917" y="4719637"/>
            <a:ext cx="22510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Cracking secret key lemah &amp; membuat signature admin palsu.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0650" y="2934890"/>
            <a:ext cx="236357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87171"/>
                </a:solidFill>
                <a:latin typeface="Poppins SemiBold"/>
              </a:rPr>
              <a:t>4. Exfiltration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6925" y="3230165"/>
            <a:ext cx="2251025" cy="355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Akses data privat pelanggan pada endpoint 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/api/customers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63687" y="39195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4696" y="39195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5704" y="39195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56713" y="39195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4. Tahapan Serangan Red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48577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485775"/>
            <a:ext cx="544068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4. Eksekusi Red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48577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257300"/>
            <a:ext cx="559069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EF4444"/>
                </a:solidFill>
                <a:latin typeface="Poppins SemiBold"/>
              </a:rPr>
              <a:t>Eksploitasi Burp Suite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685925"/>
            <a:ext cx="53244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Red Team melakukan interseptasi paket dan memodifikasi klaim token JWT dari 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role: user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menjadi 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role: admin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287785"/>
            <a:ext cx="53244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Dengan menghapus signature digital (Bypass 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alg=none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), sistem menerima token palsu tersebut dan memberikan respon </a:t>
            </a:r>
            <a:r>
              <a:rPr b="1" sz="1200" i="0" u="none">
                <a:solidFill>
                  <a:srgbClr val="94A3B8"/>
                </a:solidFill>
                <a:latin typeface="Inter"/>
              </a:rPr>
              <a:t>HTTP 200 OK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serta membocorkan seluruh data sensitif pelanggan.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693789"/>
            <a:ext cx="11029950" cy="2241946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693789"/>
          <a:ext cx="11020424" cy="2241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25835"/>
                <a:gridCol w="3485257"/>
                <a:gridCol w="5609332"/>
              </a:tblGrid>
              <a:tr h="560486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Inter SemiBold"/>
                        </a:rPr>
                        <a:t>Tujuan Forensik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Inter SemiBold"/>
                        </a:rPr>
                        <a:t>Syntax Wireshark Display Filter / BPF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Inter SemiBold"/>
                        </a:rPr>
                        <a:t>Temuan Anomali PCAP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6048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94A3B8"/>
                          </a:solidFill>
                          <a:latin typeface="Inter"/>
                        </a:rPr>
                        <a:t>Isolasi Attacker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tcp port 80 and host 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Trafik HTTP POST berfrekuensi tinggi dalam waktu singkat dari 1 IP.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048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94A3B8"/>
                          </a:solidFill>
                          <a:latin typeface="Inter"/>
                        </a:rPr>
                        <a:t>Deteksi Token JWT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frame contains "eyJ"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Ditemukan header token JWT terpotong tanpa signature (</a:t>
                      </a:r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alg=none</a:t>
                      </a:r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0488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94A3B8"/>
                          </a:solidFill>
                          <a:latin typeface="Inter"/>
                        </a:rPr>
                        <a:t>Pencurian Data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http.request.uri contains "customers"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Perubahan status HTTP dari </a:t>
                      </a:r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403 Forbidden</a:t>
                      </a:r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 menjadi </a:t>
                      </a:r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200 OK</a:t>
                      </a:r>
                      <a:r>
                        <a:rPr b="0" sz="1200" i="0" u="none">
                          <a:solidFill>
                            <a:srgbClr val="94A3B8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3247132"/>
            <a:ext cx="19258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11623" y="3247132"/>
            <a:ext cx="34852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96880" y="3247132"/>
            <a:ext cx="56093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787" y="3805237"/>
            <a:ext cx="19258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11623" y="3805237"/>
            <a:ext cx="34852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6880" y="3805237"/>
            <a:ext cx="56093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787" y="4363342"/>
            <a:ext cx="19258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1623" y="4363342"/>
            <a:ext cx="34852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96880" y="4363342"/>
            <a:ext cx="56093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787" y="4921448"/>
            <a:ext cx="19258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1623" y="4921448"/>
            <a:ext cx="34852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96880" y="4921448"/>
            <a:ext cx="56093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5. Forensik Traffic &amp; BPF Filter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48577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87079"/>
            <a:ext cx="5372100" cy="24553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87079"/>
            <a:ext cx="5372100" cy="24553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3072854"/>
            <a:ext cx="502062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4D399"/>
                </a:solidFill>
                <a:latin typeface="Poppins SemiBold"/>
              </a:rPr>
              <a:t>Patching Kode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4150" y="3072854"/>
            <a:ext cx="502062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60A5FA"/>
                </a:solidFill>
                <a:latin typeface="Poppins SemiBold"/>
              </a:rPr>
              <a:t>Respon Jaringan Aktif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3501479"/>
            <a:ext cx="47815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Pemblokiran IP Penyerang secara langsung pada container Nginx via iptables interface Tailscale: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901404"/>
            <a:ext cx="1905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901404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9675" y="3501479"/>
            <a:ext cx="44481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Wajibkan whitelist algoritma 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HS256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secara eksplisit.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9675" y="3916709"/>
            <a:ext cx="44481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Tolak tegas token dengan header 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alg=none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" y="4331940"/>
            <a:ext cx="44481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Enforce validasi hak akses role langsung ke DB MySQL.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3534816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3950047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4365277"/>
            <a:ext cx="152400" cy="180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6. Remediasi &amp; Patching Sistem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48577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485775"/>
            <a:ext cx="11581447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Poppins"/>
              </a:rPr>
              <a:t>Hasil Akhir &amp; 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1581150"/>
            <a:ext cx="80962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Simulasi Red/Blue Team berhasil membuktikan pentingnya pengujian kerentanan otentikasi. Arsitektur DMZ Docker terbukti efektif melokalisasi ancaman, sementara hardening multi-layer menjaga integritas layanan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967632"/>
            <a:ext cx="11029950" cy="22860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Fira Code"/>
              </a:rPr>
              <a:t>Program Studi Informatika - Universitas Siber Asia (2025/2026)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0" y="2996207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6887" y="3034754"/>
            <a:ext cx="86582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66887" y="3810000"/>
            <a:ext cx="86582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66887" y="3810000"/>
            <a:ext cx="86582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887" y="318417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62262" y="3177629"/>
            <a:ext cx="75628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https://media.easy-peasy.ai/e5cf48ee-81b3-4355-a841-14a441d2e323/18a8a608-7cf6-4527-8055-a1d6b010c033_medium.webp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2262" y="3423344"/>
            <a:ext cx="75628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easy-peasy.ai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887" y="3968948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62262" y="3962400"/>
            <a:ext cx="75628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https://www.wizlynxgroup.com/news/wp-content/uploads/2025/10/Ethical-Password-Cracking-in-Red-Team-Operations.jpg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262" y="4208115"/>
            <a:ext cx="75628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www.wizlynxgroup.com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48577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